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9" r:id="rId3"/>
    <p:sldId id="260" r:id="rId4"/>
    <p:sldId id="261" r:id="rId5"/>
    <p:sldId id="262" r:id="rId6"/>
    <p:sldId id="263" r:id="rId7"/>
    <p:sldId id="264" r:id="rId8"/>
    <p:sldId id="265" r:id="rId9"/>
    <p:sldId id="266" r:id="rId10"/>
    <p:sldId id="270" r:id="rId11"/>
    <p:sldId id="272" r:id="rId12"/>
    <p:sldId id="273" r:id="rId13"/>
    <p:sldId id="274" r:id="rId14"/>
    <p:sldId id="275" r:id="rId15"/>
    <p:sldId id="276" r:id="rId16"/>
    <p:sldId id="277" r:id="rId17"/>
    <p:sldId id="278" r:id="rId18"/>
    <p:sldId id="268" r:id="rId19"/>
    <p:sldId id="269" r:id="rId20"/>
    <p:sldId id="271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0" d="100"/>
          <a:sy n="70" d="100"/>
        </p:scale>
        <p:origin x="536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165C65-D461-276D-51A9-14733C288BA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245E1FC-3C73-7D6B-C17D-6457EA5B9DD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C26321-90C1-5A86-FCDE-9C7CD15020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C2AB14-3DE0-4E8E-8F0B-2F16F753FF01}" type="datetimeFigureOut">
              <a:rPr lang="en-IN" smtClean="0"/>
              <a:t>09-11-2025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E9EF56-9562-C262-A46F-01694DCC29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7FB570-7C6A-8C90-38F2-54FC483B87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2A4996-491A-4B3D-9D38-9A3C4A3BFDD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383808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9C3ACD-2C7E-6790-5169-71C708988E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D28937-63F0-FEC2-7DAB-F141A796CD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A19D7A-36F1-FAE0-97B3-F5D4101CAC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C2AB14-3DE0-4E8E-8F0B-2F16F753FF01}" type="datetimeFigureOut">
              <a:rPr lang="en-IN" smtClean="0"/>
              <a:t>09-11-2025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4488153-7BC5-B539-4F9B-B8D97378F3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F03F33-40D3-803B-53F2-0549B64AD6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2A4996-491A-4B3D-9D38-9A3C4A3BFDD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868696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C35158-B473-B4EE-210C-865566C13B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C7E4EDB-6BC2-2CF7-4F85-1A4E63BB61F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2527F2-A5DA-923E-5BF7-C70B830562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C2AB14-3DE0-4E8E-8F0B-2F16F753FF01}" type="datetimeFigureOut">
              <a:rPr lang="en-IN" smtClean="0"/>
              <a:t>09-11-2025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34181D-E0B6-033E-DB75-6624A37595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08378F-E999-215A-7455-F078E53F36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2A4996-491A-4B3D-9D38-9A3C4A3BFDD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746933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68B09D-0953-4F3E-364B-7D73CE5540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C9B49C-2486-2DD3-158A-E7678ACF18B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44C5AFE-AC62-644B-B08B-D3EEB1CC64A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EEB8C2A-03BF-F087-D5E9-D34D0CE465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C2AB14-3DE0-4E8E-8F0B-2F16F753FF01}" type="datetimeFigureOut">
              <a:rPr lang="en-IN" smtClean="0"/>
              <a:t>09-11-2025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7EB4423-645F-50C4-6826-3B84F5DEA3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99F3CD3-10FF-5DA9-1C9C-D7CE31B5EF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2A4996-491A-4B3D-9D38-9A3C4A3BFDD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074600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714FCF-3561-8C7A-F6EA-F78853747D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30E892B-5CBF-AE5D-8DAB-EC23EF5BAC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573C7F5-5C8E-CFD2-E65A-2A6472AD8FB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1FE12E3-2DE2-B244-60EE-D9E72148E96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ABE5448-773F-1884-5407-1DF7C157102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0159D61-16E6-D4F6-45B2-C0544BABEA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C2AB14-3DE0-4E8E-8F0B-2F16F753FF01}" type="datetimeFigureOut">
              <a:rPr lang="en-IN" smtClean="0"/>
              <a:t>09-11-2025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574BD3C-7AE8-434A-51E9-F4CE327E10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B33331B-D522-F01C-3C3D-C3EA580C7A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2A4996-491A-4B3D-9D38-9A3C4A3BFDD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78463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82877B-4470-1737-91B9-78386D2BC3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3D70629-7AA3-1527-BA5C-76D0000A0B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C2AB14-3DE0-4E8E-8F0B-2F16F753FF01}" type="datetimeFigureOut">
              <a:rPr lang="en-IN" smtClean="0"/>
              <a:t>09-11-2025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99C873-9BA9-B8F7-9DE1-3151F0F84E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EE4C39A-67CA-DF44-105B-3592B9D88E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2A4996-491A-4B3D-9D38-9A3C4A3BFDD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955048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2644518-7203-CC00-8D00-3880B7D169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C2AB14-3DE0-4E8E-8F0B-2F16F753FF01}" type="datetimeFigureOut">
              <a:rPr lang="en-IN" smtClean="0"/>
              <a:t>09-11-2025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D0F8CE4-5775-AF1D-F7BA-E09C92CB40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6C2F7C5-157F-7784-3DD7-DE39B9A885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2A4996-491A-4B3D-9D38-9A3C4A3BFDD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134487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C7A176-4A7D-EC47-40AA-8D4BBBB1EC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7803A6-F17C-D739-A4CE-A1BC882352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CE829E8-CEA6-39F0-FCB4-F7C57CAAD25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F9D8F2-82D4-09D9-8936-296DCD9F38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C2AB14-3DE0-4E8E-8F0B-2F16F753FF01}" type="datetimeFigureOut">
              <a:rPr lang="en-IN" smtClean="0"/>
              <a:t>09-11-2025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742F6F2-3BB8-541A-A058-6EDD44F560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49D96C6-7731-0182-6DF4-9B9ACD1911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2A4996-491A-4B3D-9D38-9A3C4A3BFDD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844490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CE3FDB-4198-43C6-5C82-C35D73E072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59414B0-F733-5F0F-3A93-74D5FF0BD7A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5D7F8B8-4B33-0B8F-68B3-CFDC17CE3D1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E8D8DA8-88B1-3A22-4485-F65F3F1A03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C2AB14-3DE0-4E8E-8F0B-2F16F753FF01}" type="datetimeFigureOut">
              <a:rPr lang="en-IN" smtClean="0"/>
              <a:t>09-11-2025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1EACEFB-ECF4-9A36-8E61-C0368D2CF0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A84B084-6DDD-F6D6-1882-974D3B640C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2A4996-491A-4B3D-9D38-9A3C4A3BFDD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962952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B9FA29-9156-5490-7A65-592AF66A4C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7F56951-E512-55FE-9FF7-83D162D8FB8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918552-59EC-423C-D1A1-F853C5256D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C2AB14-3DE0-4E8E-8F0B-2F16F753FF01}" type="datetimeFigureOut">
              <a:rPr lang="en-IN" smtClean="0"/>
              <a:t>09-11-2025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0F7D35-5AC5-4DD5-36F1-7248AF7105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732CDC-62B4-0D8F-D2FE-C29D381F37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2A4996-491A-4B3D-9D38-9A3C4A3BFDD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671979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84AA393-1E4E-02F5-0A80-374E35810A4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FBAB850-002B-68BA-E4EF-3A12DF3FCC1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14142F-9758-9336-3D25-8CCD13F919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C2AB14-3DE0-4E8E-8F0B-2F16F753FF01}" type="datetimeFigureOut">
              <a:rPr lang="en-IN" smtClean="0"/>
              <a:t>09-11-2025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699A59-20E5-11B1-64DC-9D759C33D5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BB24ED-719E-F15E-EDA0-572BBD0E80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2A4996-491A-4B3D-9D38-9A3C4A3BFDD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715153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88C7E91-A8D6-9CCF-E4EA-DD9DFAA310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2566BF7-6776-A1C0-1F78-40545E0861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EC348E-527C-9F00-210D-82E74931A9A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AC2AB14-3DE0-4E8E-8F0B-2F16F753FF01}" type="datetimeFigureOut">
              <a:rPr lang="en-IN" smtClean="0"/>
              <a:t>09-11-2025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B4E219-5FB6-5B7F-502C-9481EC1BD90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8C2F86-6533-C079-4CCB-40AFD6ECD8F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F2A4996-491A-4B3D-9D38-9A3C4A3BFDD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648664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8BD094-DA3E-25DD-6EB9-09872B02C7E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/>
              <a:t>HOSPITAL MANAGEMENT SYSTEM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7A7D58A-8D7C-3204-B80C-2B414AF6C29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123944"/>
            <a:ext cx="9144000" cy="1865694"/>
          </a:xfrm>
        </p:spPr>
        <p:txBody>
          <a:bodyPr>
            <a:normAutofit fontScale="92500" lnSpcReduction="20000"/>
          </a:bodyPr>
          <a:lstStyle/>
          <a:p>
            <a:pPr algn="r"/>
            <a:r>
              <a:rPr lang="en-IN" dirty="0"/>
              <a:t>								Edwin Arun</a:t>
            </a:r>
          </a:p>
          <a:p>
            <a:pPr algn="r"/>
            <a:r>
              <a:rPr lang="en-IN" dirty="0"/>
              <a:t>								Ardra S B</a:t>
            </a:r>
          </a:p>
          <a:p>
            <a:pPr algn="r"/>
            <a:r>
              <a:rPr lang="en-IN" dirty="0"/>
              <a:t>								Aneeta P T</a:t>
            </a:r>
          </a:p>
          <a:p>
            <a:pPr algn="r"/>
            <a:r>
              <a:rPr lang="en-IN" dirty="0"/>
              <a:t>		Kishore L</a:t>
            </a:r>
          </a:p>
          <a:p>
            <a:pPr algn="r"/>
            <a:r>
              <a:rPr lang="en-IN" dirty="0"/>
              <a:t>		Sona Goji</a:t>
            </a:r>
          </a:p>
        </p:txBody>
      </p:sp>
    </p:spTree>
    <p:extLst>
      <p:ext uri="{BB962C8B-B14F-4D97-AF65-F5344CB8AC3E}">
        <p14:creationId xmlns:p14="http://schemas.microsoft.com/office/powerpoint/2010/main" val="29268211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82828F-0D1D-DF04-84DD-5EEDF60BF4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EFAADE82-171F-3099-FA64-05D468C8DB51}"/>
              </a:ext>
            </a:extLst>
          </p:cNvPr>
          <p:cNvSpPr/>
          <p:nvPr/>
        </p:nvSpPr>
        <p:spPr>
          <a:xfrm>
            <a:off x="838200" y="612648"/>
            <a:ext cx="4145280" cy="822960"/>
          </a:xfrm>
          <a:prstGeom prst="roundRect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17F895A-E521-F93A-9A51-52518E9D34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INTRODUCTION</a:t>
            </a: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52E4F7FC-C120-30B9-E300-1EC70D67812C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353568" y="1462709"/>
            <a:ext cx="11195304" cy="46519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Hospitals manage multiple operations daily: patient registration, appointments, bed allocation, billing, and record keeping. 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Manual handling of these tasks often leads to inefficiencies, errors, and delays in patient care. 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Hospital Management System (HMS)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automates these processes using a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menu-driven terminal interface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 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Implements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role-based access control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to ensure security and task-specific functionality for each user. 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Enhances operational efficiency, reduces paperwork, and improves accuracy in hospital workflows. </a:t>
            </a:r>
          </a:p>
        </p:txBody>
      </p:sp>
    </p:spTree>
    <p:extLst>
      <p:ext uri="{BB962C8B-B14F-4D97-AF65-F5344CB8AC3E}">
        <p14:creationId xmlns:p14="http://schemas.microsoft.com/office/powerpoint/2010/main" val="357607105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38AD62-06AA-ADE9-5BB1-B6CD3EAE15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4C053FFA-3D05-ADC9-9773-39B283DB90CD}"/>
              </a:ext>
            </a:extLst>
          </p:cNvPr>
          <p:cNvSpPr/>
          <p:nvPr/>
        </p:nvSpPr>
        <p:spPr>
          <a:xfrm>
            <a:off x="434340" y="560928"/>
            <a:ext cx="3461004" cy="822960"/>
          </a:xfrm>
          <a:prstGeom prst="roundRect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BCEBECA-103D-6BD8-E09D-41C2B2E9CF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OBJECTIVE</a:t>
            </a: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9EFF952E-2C4A-0576-9F89-7F6192EF3711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34340" y="1690688"/>
            <a:ext cx="11195304" cy="279384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lv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Automate hospital workflows to reduce manual effort. </a:t>
            </a:r>
          </a:p>
          <a:p>
            <a:pPr marL="0" lv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Ensure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role-based access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for security and efficiency. </a:t>
            </a:r>
          </a:p>
          <a:p>
            <a:pPr marL="0" lv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Improve patient experience through faster and accurate services. </a:t>
            </a:r>
          </a:p>
          <a:p>
            <a:pPr marL="0" lv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Maintain structured and secure patient records. </a:t>
            </a:r>
          </a:p>
          <a:p>
            <a:pPr marL="0" lv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Enable scalability for future digital healthcare solutions. </a:t>
            </a:r>
          </a:p>
        </p:txBody>
      </p:sp>
    </p:spTree>
    <p:extLst>
      <p:ext uri="{BB962C8B-B14F-4D97-AF65-F5344CB8AC3E}">
        <p14:creationId xmlns:p14="http://schemas.microsoft.com/office/powerpoint/2010/main" val="334917126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6A8671-081B-02F3-AC23-E5F79FD432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51BB685E-1F6E-EA08-4A39-086BF0832359}"/>
              </a:ext>
            </a:extLst>
          </p:cNvPr>
          <p:cNvSpPr/>
          <p:nvPr/>
        </p:nvSpPr>
        <p:spPr>
          <a:xfrm>
            <a:off x="562356" y="542096"/>
            <a:ext cx="2537460" cy="822960"/>
          </a:xfrm>
          <a:prstGeom prst="roundRect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CF0CDAC-1E59-C59B-BED7-19A00AEC78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ABOUT</a:t>
            </a: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E3B74EFC-01FA-1751-E7C3-E85917B6CE73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34340" y="1136692"/>
            <a:ext cx="11195304" cy="39018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lv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lv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terminal-based application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designed for hospital management. </a:t>
            </a:r>
          </a:p>
          <a:p>
            <a:pPr marL="0" lv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Supports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three roles: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Receptionist, Doctor, Billing Staff. </a:t>
            </a:r>
          </a:p>
          <a:p>
            <a:pPr marL="0" lv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Provides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role-specific functionalities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for smooth operations. </a:t>
            </a:r>
          </a:p>
          <a:p>
            <a:pPr marL="0" lv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Focuses on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simplicity, speed, and accuracy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in hospital processes. </a:t>
            </a:r>
          </a:p>
          <a:p>
            <a:pPr marL="0" lv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Built with modular design for easy and future upgrades. </a:t>
            </a:r>
          </a:p>
          <a:p>
            <a:pPr marL="0" lv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7077564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C7BAE1-7525-AA59-FE2C-8940BC649D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3BF2E9F2-CB1E-A5A9-CADC-4A421DE09D81}"/>
              </a:ext>
            </a:extLst>
          </p:cNvPr>
          <p:cNvSpPr/>
          <p:nvPr/>
        </p:nvSpPr>
        <p:spPr>
          <a:xfrm>
            <a:off x="562356" y="542096"/>
            <a:ext cx="4777740" cy="822960"/>
          </a:xfrm>
          <a:prstGeom prst="roundRect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D3D9C88-7401-4844-85EF-7C6E0AD00A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PROJECT DETAILS</a:t>
            </a: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BF618881-559B-F660-12A0-6E08808EEB43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34975" y="1690767"/>
            <a:ext cx="7869462" cy="279384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Platform: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Menu-driven terminal interface.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Technology Stack: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Java, OOP principles.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Data Handling: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Secure and structured patient records.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Access Control: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Role-based access system.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Validation: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Input checks to prevent invalid entries. </a:t>
            </a:r>
          </a:p>
        </p:txBody>
      </p:sp>
    </p:spTree>
    <p:extLst>
      <p:ext uri="{BB962C8B-B14F-4D97-AF65-F5344CB8AC3E}">
        <p14:creationId xmlns:p14="http://schemas.microsoft.com/office/powerpoint/2010/main" val="308351520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B12B56-46CD-4AE3-BC61-862AD6A7AE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7A686DE9-9D3D-4282-AD7A-68B9F74719BD}"/>
              </a:ext>
            </a:extLst>
          </p:cNvPr>
          <p:cNvSpPr/>
          <p:nvPr/>
        </p:nvSpPr>
        <p:spPr>
          <a:xfrm>
            <a:off x="562356" y="542096"/>
            <a:ext cx="4777740" cy="822960"/>
          </a:xfrm>
          <a:prstGeom prst="roundRect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B3BD6D8-86D4-76A7-9C1F-CD8E644082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1896" y="290794"/>
            <a:ext cx="10515600" cy="1325563"/>
          </a:xfrm>
        </p:spPr>
        <p:txBody>
          <a:bodyPr/>
          <a:lstStyle/>
          <a:p>
            <a:r>
              <a:rPr lang="en-IN" dirty="0"/>
              <a:t>MAJOR MODULES</a:t>
            </a: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24F80446-B704-4F62-190F-E0D92E3AAD84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301752" y="1493740"/>
            <a:ext cx="10789920" cy="52675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Receptionist: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Add patient details.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Book appointments and issue tokens.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Allocate beds based on category.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View patient details. </a:t>
            </a:r>
            <a:endParaRPr lang="en-US" altLang="en-US" sz="2000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Doctor: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View appointment schedules.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Update appointment status.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Access patient information.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Billing Staff: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Generate bills based on services.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Deallocate beds after discharge.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0403966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60064F-1F3D-2D3F-E305-20CE012392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0B3A272F-FFB9-D2BC-7C07-5D641A216D75}"/>
              </a:ext>
            </a:extLst>
          </p:cNvPr>
          <p:cNvSpPr/>
          <p:nvPr/>
        </p:nvSpPr>
        <p:spPr>
          <a:xfrm>
            <a:off x="562356" y="542096"/>
            <a:ext cx="2135124" cy="822960"/>
          </a:xfrm>
          <a:prstGeom prst="roundRect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EAC287A-2D74-9DB7-5A32-B4E1504B27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1896" y="290794"/>
            <a:ext cx="10515600" cy="1325563"/>
          </a:xfrm>
        </p:spPr>
        <p:txBody>
          <a:bodyPr/>
          <a:lstStyle/>
          <a:p>
            <a:r>
              <a:rPr lang="en-IN" dirty="0"/>
              <a:t>ROLES</a:t>
            </a: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0768E41F-72C6-C93F-CB00-6BE276EFF84D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256032" y="2112199"/>
            <a:ext cx="10789920" cy="28053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Edwin – UI, Validation, Testing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2000" dirty="0">
                <a:latin typeface="Arial" panose="020B0604020202020204" pitchFamily="34" charset="0"/>
              </a:rPr>
              <a:t>Ardra – Appointment module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Ane</a:t>
            </a:r>
            <a:r>
              <a:rPr lang="en-US" altLang="en-US" sz="2000" dirty="0">
                <a:latin typeface="Arial" panose="020B0604020202020204" pitchFamily="34" charset="0"/>
              </a:rPr>
              <a:t>eta – Bed management, Billing module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2000" dirty="0">
                <a:latin typeface="Arial" panose="020B0604020202020204" pitchFamily="34" charset="0"/>
              </a:rPr>
              <a:t>Kishore – Doctor module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2000" dirty="0">
                <a:latin typeface="Arial" panose="020B0604020202020204" pitchFamily="34" charset="0"/>
              </a:rPr>
              <a:t>Sona – Patient management module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6825252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D58058-EA95-18A1-3DA8-D900DD1608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0707A2A1-6580-CD18-0DC6-2B809516D6F6}"/>
              </a:ext>
            </a:extLst>
          </p:cNvPr>
          <p:cNvSpPr/>
          <p:nvPr/>
        </p:nvSpPr>
        <p:spPr>
          <a:xfrm>
            <a:off x="562356" y="542096"/>
            <a:ext cx="2958084" cy="822960"/>
          </a:xfrm>
          <a:prstGeom prst="roundRect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9256C8C-DFE9-4EB9-FFE6-31CE2E9765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1896" y="290794"/>
            <a:ext cx="10515600" cy="1325563"/>
          </a:xfrm>
        </p:spPr>
        <p:txBody>
          <a:bodyPr/>
          <a:lstStyle/>
          <a:p>
            <a:r>
              <a:rPr lang="en-IN" dirty="0"/>
              <a:t>DURATION</a:t>
            </a: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341CA9B7-A5DC-A58C-F3D4-FBC7A980B6F8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283464" y="2262969"/>
            <a:ext cx="10789920" cy="188199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Starting date – 3</a:t>
            </a:r>
            <a:r>
              <a:rPr kumimoji="0" lang="en-US" altLang="en-US" sz="2000" b="0" i="0" u="none" strike="noStrike" cap="none" normalizeH="0" baseline="3000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rd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November 2025</a:t>
            </a:r>
          </a:p>
          <a:p>
            <a:pPr marL="0" lv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2000" dirty="0">
                <a:latin typeface="Arial" panose="020B0604020202020204" pitchFamily="34" charset="0"/>
              </a:rPr>
              <a:t>Ending date – 4</a:t>
            </a:r>
            <a:r>
              <a:rPr lang="en-US" altLang="en-US" sz="2000" baseline="30000" dirty="0">
                <a:latin typeface="Arial" panose="020B0604020202020204" pitchFamily="34" charset="0"/>
              </a:rPr>
              <a:t>th</a:t>
            </a:r>
            <a:r>
              <a:rPr lang="en-US" altLang="en-US" sz="2000" dirty="0">
                <a:latin typeface="Arial" panose="020B0604020202020204" pitchFamily="34" charset="0"/>
              </a:rPr>
              <a:t>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November 2025</a:t>
            </a:r>
          </a:p>
          <a:p>
            <a:pPr marL="0" lv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2000" dirty="0">
                <a:latin typeface="Arial" panose="020B0604020202020204" pitchFamily="34" charset="0"/>
              </a:rPr>
              <a:t>Total Duration – 2 Days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8769542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7FC495-75A3-C24E-99E4-A37607FBDE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BE2C83CD-06AB-03EA-FEBC-87D959813147}"/>
              </a:ext>
            </a:extLst>
          </p:cNvPr>
          <p:cNvSpPr/>
          <p:nvPr/>
        </p:nvSpPr>
        <p:spPr>
          <a:xfrm>
            <a:off x="562356" y="542096"/>
            <a:ext cx="2958084" cy="822960"/>
          </a:xfrm>
          <a:prstGeom prst="roundRect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ECA5696-23E1-6FA5-0113-41658E9669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1896" y="290794"/>
            <a:ext cx="10515600" cy="1325563"/>
          </a:xfrm>
        </p:spPr>
        <p:txBody>
          <a:bodyPr/>
          <a:lstStyle/>
          <a:p>
            <a:r>
              <a:rPr lang="en-IN" dirty="0"/>
              <a:t>APPROACH</a:t>
            </a: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100D4A2E-72EC-49F0-1148-814534953545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329184" y="2103057"/>
            <a:ext cx="10789920" cy="28053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lv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IN" sz="2000" dirty="0"/>
              <a:t>Requirement Gathering &amp; Analysis</a:t>
            </a:r>
          </a:p>
          <a:p>
            <a:pPr marL="0" lv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kumimoji="0" lang="en-IN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SRS Completion</a:t>
            </a:r>
          </a:p>
          <a:p>
            <a:pPr marL="0" lv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sz="2000" dirty="0"/>
              <a:t>Develop modular code for each role.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Integration and Testing </a:t>
            </a:r>
          </a:p>
          <a:p>
            <a:pPr marL="0" lv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Deployment and documentation. </a:t>
            </a:r>
          </a:p>
          <a:p>
            <a:pPr marL="0" lv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9025887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0FB600-7697-6302-4A5D-B65291D4AA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9639DCB4-CA1F-2853-FC4D-E8AF65F0ABF1}"/>
              </a:ext>
            </a:extLst>
          </p:cNvPr>
          <p:cNvSpPr/>
          <p:nvPr/>
        </p:nvSpPr>
        <p:spPr>
          <a:xfrm>
            <a:off x="562356" y="542096"/>
            <a:ext cx="4018788" cy="822960"/>
          </a:xfrm>
          <a:prstGeom prst="roundRect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5C3C13B-B979-9786-691A-53102B7C73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1896" y="290794"/>
            <a:ext cx="10515600" cy="1325563"/>
          </a:xfrm>
        </p:spPr>
        <p:txBody>
          <a:bodyPr/>
          <a:lstStyle/>
          <a:p>
            <a:r>
              <a:rPr lang="en-IN" dirty="0"/>
              <a:t>SCREENSHOTS</a:t>
            </a:r>
          </a:p>
        </p:txBody>
      </p:sp>
      <p:pic>
        <p:nvPicPr>
          <p:cNvPr id="6" name="Content Placeholder 5" descr="A screenshot of a computer&#10;&#10;AI-generated content may be incorrect.">
            <a:extLst>
              <a:ext uri="{FF2B5EF4-FFF2-40B4-BE49-F238E27FC236}">
                <a16:creationId xmlns:a16="http://schemas.microsoft.com/office/drawing/2014/main" id="{5A698B56-D71A-1106-5CBF-363DD8A5FB4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5471"/>
          <a:stretch>
            <a:fillRect/>
          </a:stretch>
        </p:blipFill>
        <p:spPr bwMode="auto">
          <a:xfrm>
            <a:off x="562356" y="1959099"/>
            <a:ext cx="3918204" cy="435680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0" name="Picture 39" descr="A screenshot of a computer&#10;&#10;AI-generated content may be incorrect.">
            <a:extLst>
              <a:ext uri="{FF2B5EF4-FFF2-40B4-BE49-F238E27FC236}">
                <a16:creationId xmlns:a16="http://schemas.microsoft.com/office/drawing/2014/main" id="{BC63EA48-1174-C24F-B738-25ECA494E2B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66944" y="2057278"/>
            <a:ext cx="6143244" cy="43568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251169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2ED5CC-EE31-4BC1-B437-7D86CC2D95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Content Placeholder 10" descr="A screenshot of a computer&#10;&#10;AI-generated content may be incorrect.">
            <a:extLst>
              <a:ext uri="{FF2B5EF4-FFF2-40B4-BE49-F238E27FC236}">
                <a16:creationId xmlns:a16="http://schemas.microsoft.com/office/drawing/2014/main" id="{07F27156-3D34-7205-F872-752C1BA090F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4576" y="111033"/>
            <a:ext cx="5946304" cy="5944252"/>
          </a:xfrm>
        </p:spPr>
      </p:pic>
      <p:pic>
        <p:nvPicPr>
          <p:cNvPr id="15" name="Picture 1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35050D55-ED26-F32F-E6C7-DFD72FF155E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69253" y="166114"/>
            <a:ext cx="5508171" cy="58891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234497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C17A4A-8469-F59E-FD2B-3E4C97D840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Content Placeholder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CD6791F4-D12D-F2BC-A60C-57A4CB12D9C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9971"/>
          <a:stretch>
            <a:fillRect/>
          </a:stretch>
        </p:blipFill>
        <p:spPr bwMode="auto">
          <a:xfrm>
            <a:off x="361405" y="882428"/>
            <a:ext cx="4874625" cy="486000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" name="Picture 5" descr="A screenshot of a computer&#10;&#10;AI-generated content may be incorrect.">
            <a:extLst>
              <a:ext uri="{FF2B5EF4-FFF2-40B4-BE49-F238E27FC236}">
                <a16:creationId xmlns:a16="http://schemas.microsoft.com/office/drawing/2014/main" id="{3525793D-4B95-74A0-E82C-07178930B4C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8148"/>
          <a:stretch>
            <a:fillRect/>
          </a:stretch>
        </p:blipFill>
        <p:spPr>
          <a:xfrm>
            <a:off x="6379899" y="1035517"/>
            <a:ext cx="4874625" cy="47800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100017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77CEEA-FC25-D5E7-F9D3-D0683ACBAF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Content Placeholder 2" descr="A white background with black text&#10;&#10;AI-generated content may be incorrect.">
            <a:extLst>
              <a:ext uri="{FF2B5EF4-FFF2-40B4-BE49-F238E27FC236}">
                <a16:creationId xmlns:a16="http://schemas.microsoft.com/office/drawing/2014/main" id="{01D984F2-2677-1FEF-176C-207458BEDE8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9315"/>
          <a:stretch>
            <a:fillRect/>
          </a:stretch>
        </p:blipFill>
        <p:spPr bwMode="auto">
          <a:xfrm>
            <a:off x="505991" y="478972"/>
            <a:ext cx="4806673" cy="536404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" name="Picture 5" descr="A screenshot of a computer&#10;&#10;AI-generated content may be incorrect.">
            <a:extLst>
              <a:ext uri="{FF2B5EF4-FFF2-40B4-BE49-F238E27FC236}">
                <a16:creationId xmlns:a16="http://schemas.microsoft.com/office/drawing/2014/main" id="{7A80D65C-053D-1796-32B8-BDDC30B98E8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8795"/>
          <a:stretch>
            <a:fillRect/>
          </a:stretch>
        </p:blipFill>
        <p:spPr>
          <a:xfrm>
            <a:off x="5788465" y="478972"/>
            <a:ext cx="5434705" cy="54319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670215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182D27-313E-FC29-B682-755232A050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Content Placeholder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920612C5-462E-1E44-21E0-2B4C0A5798E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18883" y="899347"/>
            <a:ext cx="5394089" cy="505930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" name="Picture 5" descr="A screenshot of a computer&#10;&#10;AI-generated content may be incorrect.">
            <a:extLst>
              <a:ext uri="{FF2B5EF4-FFF2-40B4-BE49-F238E27FC236}">
                <a16:creationId xmlns:a16="http://schemas.microsoft.com/office/drawing/2014/main" id="{7AD3B6AC-6E32-B54E-9C85-1F7163AC2CE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2882"/>
          <a:stretch>
            <a:fillRect/>
          </a:stretch>
        </p:blipFill>
        <p:spPr>
          <a:xfrm>
            <a:off x="6760899" y="899347"/>
            <a:ext cx="4893346" cy="50593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896494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EFE7DA-D5AD-F4B9-EC38-275E124DEC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Content Placeholder 2" descr="A close-up of a document&#10;&#10;AI-generated content may be incorrect.">
            <a:extLst>
              <a:ext uri="{FF2B5EF4-FFF2-40B4-BE49-F238E27FC236}">
                <a16:creationId xmlns:a16="http://schemas.microsoft.com/office/drawing/2014/main" id="{7926ED1D-C648-6B06-2E5C-3664E1994E7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4927"/>
          <a:stretch>
            <a:fillRect/>
          </a:stretch>
        </p:blipFill>
        <p:spPr bwMode="auto">
          <a:xfrm>
            <a:off x="256033" y="429768"/>
            <a:ext cx="3721608" cy="537667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" name="Picture 5" descr="A screenshot of a computer&#10;&#10;AI-generated content may be incorrect.">
            <a:extLst>
              <a:ext uri="{FF2B5EF4-FFF2-40B4-BE49-F238E27FC236}">
                <a16:creationId xmlns:a16="http://schemas.microsoft.com/office/drawing/2014/main" id="{EED09A62-F205-E2EE-2F54-0997D0BB6A3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06240" y="402336"/>
            <a:ext cx="7351776" cy="52943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976429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E72638-7B3D-0E34-ACC5-B65FF0B7DB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Content Placeholder 2" descr="A white screen with black text&#10;&#10;AI-generated content may be incorrect.">
            <a:extLst>
              <a:ext uri="{FF2B5EF4-FFF2-40B4-BE49-F238E27FC236}">
                <a16:creationId xmlns:a16="http://schemas.microsoft.com/office/drawing/2014/main" id="{E6C7C626-E2B2-8972-3C6A-79FA46506A3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06811" y="1044702"/>
            <a:ext cx="5920253" cy="475259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" name="Picture 5" descr="A screenshot of a computer&#10;&#10;AI-generated content may be incorrect.">
            <a:extLst>
              <a:ext uri="{FF2B5EF4-FFF2-40B4-BE49-F238E27FC236}">
                <a16:creationId xmlns:a16="http://schemas.microsoft.com/office/drawing/2014/main" id="{E3C54555-C82B-BF6B-299C-18D8214C558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2431"/>
          <a:stretch>
            <a:fillRect/>
          </a:stretch>
        </p:blipFill>
        <p:spPr>
          <a:xfrm>
            <a:off x="7001256" y="924898"/>
            <a:ext cx="4538472" cy="48723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02227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B149D6-CF6E-B700-FDDD-F083698BCA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Content Placeholder 1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8CD503C1-489C-05A4-9719-CA4FE4FECC6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6862"/>
          <a:stretch>
            <a:fillRect/>
          </a:stretch>
        </p:blipFill>
        <p:spPr>
          <a:xfrm>
            <a:off x="358467" y="975232"/>
            <a:ext cx="5737533" cy="5078095"/>
          </a:xfrm>
        </p:spPr>
      </p:pic>
      <p:pic>
        <p:nvPicPr>
          <p:cNvPr id="15" name="Picture 14" descr="A white background with black text&#10;&#10;AI-generated content may be incorrect.">
            <a:extLst>
              <a:ext uri="{FF2B5EF4-FFF2-40B4-BE49-F238E27FC236}">
                <a16:creationId xmlns:a16="http://schemas.microsoft.com/office/drawing/2014/main" id="{4CD9F272-2EBD-3F96-59B1-95807221D83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0576"/>
          <a:stretch>
            <a:fillRect/>
          </a:stretch>
        </p:blipFill>
        <p:spPr>
          <a:xfrm>
            <a:off x="6995160" y="889952"/>
            <a:ext cx="4443984" cy="50780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427371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B5A1CA-F2F8-24D5-CA2E-6A1ABA64CB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1D872080-097E-28B3-1736-95D9E41D2604}"/>
              </a:ext>
            </a:extLst>
          </p:cNvPr>
          <p:cNvSpPr/>
          <p:nvPr/>
        </p:nvSpPr>
        <p:spPr>
          <a:xfrm>
            <a:off x="562356" y="542096"/>
            <a:ext cx="2418588" cy="822960"/>
          </a:xfrm>
          <a:prstGeom prst="roundRect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5BC4623-27DF-3E76-4E17-53476F4C7B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1896" y="290794"/>
            <a:ext cx="10515600" cy="1325563"/>
          </a:xfrm>
        </p:spPr>
        <p:txBody>
          <a:bodyPr/>
          <a:lstStyle/>
          <a:p>
            <a:r>
              <a:rPr lang="en-IN" dirty="0"/>
              <a:t>REPORT</a:t>
            </a: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F6C2D670-90CD-300C-DE58-F9D2F2BD5FAB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274320" y="1556728"/>
            <a:ext cx="10789920" cy="500393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indent="0" algn="just">
              <a:lnSpc>
                <a:spcPct val="100000"/>
              </a:lnSpc>
              <a:buNone/>
            </a:pPr>
            <a:r>
              <a:rPr lang="en-US" sz="2000" b="1" dirty="0"/>
              <a:t>1. Appointment Schedule Report</a:t>
            </a:r>
          </a:p>
          <a:p>
            <a:pPr algn="just">
              <a:lnSpc>
                <a:spcPct val="100000"/>
              </a:lnSpc>
            </a:pPr>
            <a:r>
              <a:rPr lang="en-US" sz="2000" dirty="0"/>
              <a:t>Displays all booked appointments for each doctor.</a:t>
            </a:r>
          </a:p>
          <a:p>
            <a:pPr algn="just">
              <a:lnSpc>
                <a:spcPct val="100000"/>
              </a:lnSpc>
            </a:pPr>
            <a:r>
              <a:rPr lang="en-US" sz="2000" dirty="0"/>
              <a:t>Includes </a:t>
            </a:r>
            <a:r>
              <a:rPr lang="en-US" sz="2000" b="1" dirty="0"/>
              <a:t>patient name and token number</a:t>
            </a:r>
            <a:r>
              <a:rPr lang="en-US" sz="2000" dirty="0"/>
              <a:t>.</a:t>
            </a:r>
          </a:p>
          <a:p>
            <a:pPr algn="just">
              <a:lnSpc>
                <a:spcPct val="100000"/>
              </a:lnSpc>
            </a:pPr>
            <a:r>
              <a:rPr lang="en-US" sz="2000" dirty="0"/>
              <a:t>Tokens are generated automatically during booking to maintain order and avoid confusion.</a:t>
            </a:r>
          </a:p>
          <a:p>
            <a:pPr algn="just">
              <a:lnSpc>
                <a:spcPct val="100000"/>
              </a:lnSpc>
            </a:pPr>
            <a:r>
              <a:rPr lang="en-US" sz="2000" dirty="0"/>
              <a:t>Helps receptionists manage patient flow efficiently.</a:t>
            </a:r>
          </a:p>
          <a:p>
            <a:pPr marL="0" indent="0" algn="just">
              <a:lnSpc>
                <a:spcPct val="100000"/>
              </a:lnSpc>
              <a:buNone/>
            </a:pPr>
            <a:endParaRPr lang="en-US" sz="2000" dirty="0"/>
          </a:p>
          <a:p>
            <a:pPr marL="0" indent="0" algn="just">
              <a:lnSpc>
                <a:spcPct val="100000"/>
              </a:lnSpc>
              <a:buNone/>
            </a:pPr>
            <a:r>
              <a:rPr lang="en-US" sz="2000" b="1" dirty="0"/>
              <a:t>2. Doctor’s Appointment View</a:t>
            </a:r>
          </a:p>
          <a:p>
            <a:pPr algn="just">
              <a:lnSpc>
                <a:spcPct val="100000"/>
              </a:lnSpc>
            </a:pPr>
            <a:r>
              <a:rPr lang="en-US" sz="2000" dirty="0"/>
              <a:t>Each doctor can access a personalized report showing: </a:t>
            </a:r>
          </a:p>
          <a:p>
            <a:pPr lvl="1" algn="just">
              <a:lnSpc>
                <a:spcPct val="100000"/>
              </a:lnSpc>
            </a:pPr>
            <a:r>
              <a:rPr lang="en-US" sz="2000" dirty="0"/>
              <a:t>List of patients scheduled for the day.</a:t>
            </a:r>
          </a:p>
          <a:p>
            <a:pPr lvl="1" algn="just">
              <a:lnSpc>
                <a:spcPct val="100000"/>
              </a:lnSpc>
            </a:pPr>
            <a:r>
              <a:rPr lang="en-US" sz="2000" dirty="0"/>
              <a:t>Appointment status (Completed, Revisit).</a:t>
            </a:r>
          </a:p>
          <a:p>
            <a:pPr lvl="1" algn="just">
              <a:lnSpc>
                <a:spcPct val="100000"/>
              </a:lnSpc>
            </a:pPr>
            <a:r>
              <a:rPr lang="en-US" sz="2000" dirty="0"/>
              <a:t>Patient details linked to each appointment for quick reference.</a:t>
            </a:r>
          </a:p>
          <a:p>
            <a:pPr algn="just">
              <a:lnSpc>
                <a:spcPct val="100000"/>
              </a:lnSpc>
            </a:pPr>
            <a:r>
              <a:rPr lang="en-US" sz="2000" dirty="0"/>
              <a:t>Enables doctors to plan their day and prioritize cases.</a:t>
            </a:r>
          </a:p>
        </p:txBody>
      </p:sp>
    </p:spTree>
    <p:extLst>
      <p:ext uri="{BB962C8B-B14F-4D97-AF65-F5344CB8AC3E}">
        <p14:creationId xmlns:p14="http://schemas.microsoft.com/office/powerpoint/2010/main" val="127022013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6F7A63-FD8E-B768-292F-DF99F30CFB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11150CAC-D16F-1792-8FDC-699C820A753B}"/>
              </a:ext>
            </a:extLst>
          </p:cNvPr>
          <p:cNvSpPr/>
          <p:nvPr/>
        </p:nvSpPr>
        <p:spPr>
          <a:xfrm>
            <a:off x="562356" y="542096"/>
            <a:ext cx="2418588" cy="822960"/>
          </a:xfrm>
          <a:prstGeom prst="roundRect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58CE958-E3BB-7190-013D-5AB1473EEC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1896" y="290794"/>
            <a:ext cx="10515600" cy="1325563"/>
          </a:xfrm>
        </p:spPr>
        <p:txBody>
          <a:bodyPr/>
          <a:lstStyle/>
          <a:p>
            <a:r>
              <a:rPr lang="en-IN" dirty="0"/>
              <a:t>REPORT</a:t>
            </a: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47F63945-6D4A-56ED-A8CF-255BB5D6071F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320040" y="1531087"/>
            <a:ext cx="10789920" cy="493981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indent="0" algn="just">
              <a:lnSpc>
                <a:spcPct val="100000"/>
              </a:lnSpc>
              <a:buNone/>
            </a:pPr>
            <a:r>
              <a:rPr lang="en-US" sz="2000" b="1" dirty="0"/>
              <a:t>3. Patient Details Report</a:t>
            </a:r>
          </a:p>
          <a:p>
            <a:pPr algn="just">
              <a:lnSpc>
                <a:spcPct val="100000"/>
              </a:lnSpc>
            </a:pPr>
            <a:r>
              <a:rPr lang="en-US" sz="2000" dirty="0"/>
              <a:t>Comprehensive patient information including: </a:t>
            </a:r>
          </a:p>
          <a:p>
            <a:pPr lvl="1" algn="just">
              <a:lnSpc>
                <a:spcPct val="100000"/>
              </a:lnSpc>
            </a:pPr>
            <a:r>
              <a:rPr lang="en-US" sz="2000" dirty="0"/>
              <a:t>Personal details (Name, Age).</a:t>
            </a:r>
          </a:p>
          <a:p>
            <a:pPr lvl="1" algn="just">
              <a:lnSpc>
                <a:spcPct val="100000"/>
              </a:lnSpc>
            </a:pPr>
            <a:r>
              <a:rPr lang="en-US" sz="2000" dirty="0"/>
              <a:t>Bed allocation details.</a:t>
            </a:r>
          </a:p>
          <a:p>
            <a:pPr algn="just">
              <a:lnSpc>
                <a:spcPct val="100000"/>
              </a:lnSpc>
            </a:pPr>
            <a:r>
              <a:rPr lang="en-US" sz="2000" dirty="0"/>
              <a:t>Useful for both doctors and billing staff.</a:t>
            </a:r>
          </a:p>
          <a:p>
            <a:pPr marL="0" indent="0" algn="just">
              <a:lnSpc>
                <a:spcPct val="100000"/>
              </a:lnSpc>
              <a:buNone/>
            </a:pPr>
            <a:endParaRPr lang="en-US" sz="2000" dirty="0"/>
          </a:p>
          <a:p>
            <a:pPr marL="0" indent="0" algn="just">
              <a:lnSpc>
                <a:spcPct val="100000"/>
              </a:lnSpc>
              <a:buNone/>
            </a:pPr>
            <a:r>
              <a:rPr lang="en-US" sz="2000" b="1" dirty="0"/>
              <a:t>4. Billing Report</a:t>
            </a:r>
          </a:p>
          <a:p>
            <a:pPr algn="just">
              <a:lnSpc>
                <a:spcPct val="100000"/>
              </a:lnSpc>
            </a:pPr>
            <a:r>
              <a:rPr lang="en-US" sz="2000" dirty="0"/>
              <a:t>Summarizes all charges for services provided to the patient.</a:t>
            </a:r>
          </a:p>
          <a:p>
            <a:pPr algn="just">
              <a:lnSpc>
                <a:spcPct val="100000"/>
              </a:lnSpc>
            </a:pPr>
            <a:r>
              <a:rPr lang="en-US" sz="2000" dirty="0"/>
              <a:t>Includes: </a:t>
            </a:r>
          </a:p>
          <a:p>
            <a:pPr lvl="1" algn="just">
              <a:lnSpc>
                <a:spcPct val="100000"/>
              </a:lnSpc>
            </a:pPr>
            <a:r>
              <a:rPr lang="en-US" sz="2000" dirty="0"/>
              <a:t>Consultation fees.</a:t>
            </a:r>
          </a:p>
          <a:p>
            <a:pPr lvl="1" algn="just">
              <a:lnSpc>
                <a:spcPct val="100000"/>
              </a:lnSpc>
            </a:pPr>
            <a:r>
              <a:rPr lang="en-US" sz="2000" dirty="0"/>
              <a:t>Bed charges.</a:t>
            </a:r>
          </a:p>
          <a:p>
            <a:pPr algn="just">
              <a:lnSpc>
                <a:spcPct val="100000"/>
              </a:lnSpc>
            </a:pPr>
            <a:r>
              <a:rPr lang="en-US" sz="2000" dirty="0"/>
              <a:t>Generates a final invoice for patient discharge.</a:t>
            </a:r>
          </a:p>
        </p:txBody>
      </p:sp>
    </p:spTree>
    <p:extLst>
      <p:ext uri="{BB962C8B-B14F-4D97-AF65-F5344CB8AC3E}">
        <p14:creationId xmlns:p14="http://schemas.microsoft.com/office/powerpoint/2010/main" val="258863233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5D54BE-CE97-CDBC-BA04-E78A6F9404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97AC82FF-EB9E-D025-1B87-5416C05A86E3}"/>
              </a:ext>
            </a:extLst>
          </p:cNvPr>
          <p:cNvSpPr/>
          <p:nvPr/>
        </p:nvSpPr>
        <p:spPr>
          <a:xfrm>
            <a:off x="562356" y="542096"/>
            <a:ext cx="3890772" cy="822960"/>
          </a:xfrm>
          <a:prstGeom prst="roundRect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FA35E61-16CC-C6CC-5F22-BD86F1D0F6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1896" y="290794"/>
            <a:ext cx="10515600" cy="1325563"/>
          </a:xfrm>
        </p:spPr>
        <p:txBody>
          <a:bodyPr/>
          <a:lstStyle/>
          <a:p>
            <a:r>
              <a:rPr lang="en-IN" dirty="0"/>
              <a:t>CONCLUSION</a:t>
            </a:r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23A03260-B822-1F49-54CE-7F71E32F4A94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265811" y="1444359"/>
            <a:ext cx="10941685" cy="30823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Provides a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simple, role-based solution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for hospital operations. 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Improves efficiency, accuracy, and reduces manual workload. 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Lays foundation for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future enhancements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like online booking, notifications, and integrated   medical records. </a:t>
            </a:r>
          </a:p>
        </p:txBody>
      </p:sp>
    </p:spTree>
    <p:extLst>
      <p:ext uri="{BB962C8B-B14F-4D97-AF65-F5344CB8AC3E}">
        <p14:creationId xmlns:p14="http://schemas.microsoft.com/office/powerpoint/2010/main" val="188022564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196</TotalTime>
  <Words>565</Words>
  <Application>Microsoft Office PowerPoint</Application>
  <PresentationFormat>Widescreen</PresentationFormat>
  <Paragraphs>97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4" baseType="lpstr">
      <vt:lpstr>Aptos</vt:lpstr>
      <vt:lpstr>Aptos Display</vt:lpstr>
      <vt:lpstr>Arial</vt:lpstr>
      <vt:lpstr>Office Theme</vt:lpstr>
      <vt:lpstr>HOSPITAL MANAGEMENT SYSTEM</vt:lpstr>
      <vt:lpstr>INTRODUCTION</vt:lpstr>
      <vt:lpstr>OBJECTIVE</vt:lpstr>
      <vt:lpstr>ABOUT</vt:lpstr>
      <vt:lpstr>PROJECT DETAILS</vt:lpstr>
      <vt:lpstr>MAJOR MODULES</vt:lpstr>
      <vt:lpstr>ROLES</vt:lpstr>
      <vt:lpstr>DURATION</vt:lpstr>
      <vt:lpstr>APPROACH</vt:lpstr>
      <vt:lpstr>SCREENSHOTS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REPORT</vt:lpstr>
      <vt:lpstr>REPORT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Ardra Shajikumar Beena(UST-HealthProof,IN)</dc:creator>
  <cp:lastModifiedBy>Ardra Shajikumar Beena(UST-HealthProof,IN)</cp:lastModifiedBy>
  <cp:revision>8</cp:revision>
  <dcterms:created xsi:type="dcterms:W3CDTF">2025-11-07T08:55:26Z</dcterms:created>
  <dcterms:modified xsi:type="dcterms:W3CDTF">2025-11-09T06:18:27Z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15ffddfa-74ad-4c1f-9757-a38a11902f1c_Enabled">
    <vt:lpwstr>true</vt:lpwstr>
  </property>
  <property fmtid="{D5CDD505-2E9C-101B-9397-08002B2CF9AE}" pid="3" name="MSIP_Label_15ffddfa-74ad-4c1f-9757-a38a11902f1c_SetDate">
    <vt:lpwstr>2025-11-07T09:08:57Z</vt:lpwstr>
  </property>
  <property fmtid="{D5CDD505-2E9C-101B-9397-08002B2CF9AE}" pid="4" name="MSIP_Label_15ffddfa-74ad-4c1f-9757-a38a11902f1c_Method">
    <vt:lpwstr>Standard</vt:lpwstr>
  </property>
  <property fmtid="{D5CDD505-2E9C-101B-9397-08002B2CF9AE}" pid="5" name="MSIP_Label_15ffddfa-74ad-4c1f-9757-a38a11902f1c_Name">
    <vt:lpwstr>UST Internal</vt:lpwstr>
  </property>
  <property fmtid="{D5CDD505-2E9C-101B-9397-08002B2CF9AE}" pid="6" name="MSIP_Label_15ffddfa-74ad-4c1f-9757-a38a11902f1c_SiteId">
    <vt:lpwstr>a4431f4b-c207-4733-9530-34c08a9b2b8d</vt:lpwstr>
  </property>
  <property fmtid="{D5CDD505-2E9C-101B-9397-08002B2CF9AE}" pid="7" name="MSIP_Label_15ffddfa-74ad-4c1f-9757-a38a11902f1c_ActionId">
    <vt:lpwstr>d328b04e-6589-4296-abf7-d8cf2304bd5b</vt:lpwstr>
  </property>
  <property fmtid="{D5CDD505-2E9C-101B-9397-08002B2CF9AE}" pid="8" name="MSIP_Label_15ffddfa-74ad-4c1f-9757-a38a11902f1c_ContentBits">
    <vt:lpwstr>0</vt:lpwstr>
  </property>
  <property fmtid="{D5CDD505-2E9C-101B-9397-08002B2CF9AE}" pid="9" name="MSIP_Label_15ffddfa-74ad-4c1f-9757-a38a11902f1c_Tag">
    <vt:lpwstr>10, 3, 0, 1</vt:lpwstr>
  </property>
</Properties>
</file>